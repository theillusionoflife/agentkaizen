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BE0B"/>
                </a:solidFill>
                <a:latin typeface="Meiryo"/>
              </a:defRPr>
            </a:pPr>
            <a:r>
              <a:t>AgentKaizen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eiryo"/>
              </a:defRPr>
            </a:pPr>
            <a:r>
              <a:t>AIコーディングエージェントの振る舞いを、実験で改善する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99999"/>
                </a:solidFill>
                <a:latin typeface="Meiryo"/>
              </a:defRPr>
            </a:pPr>
            <a:r>
              <a:t>W&amp;B Weave 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BE0B"/>
                </a:solidFill>
                <a:latin typeface="Meiryo"/>
              </a:defRPr>
            </a:pPr>
            <a:r>
              <a:t>Problem: ステアリング問題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eiryo"/>
              </a:defRPr>
            </a:pPr>
            <a:r>
              <a:t>コーディングエージェントの振る舞いを制御するドキュメントが多数存在:</a:t>
            </a:r>
          </a:p>
          <a:p>
            <a:pPr algn="l">
              <a:spcBef>
                <a:spcPts val="800"/>
              </a:spcBef>
              <a:defRPr sz="1800" b="0">
                <a:solidFill>
                  <a:srgbClr val="CCCCCC"/>
                </a:solidFill>
                <a:latin typeface="Meiryo"/>
              </a:defRPr>
            </a:pPr>
            <a:r>
              <a:t>  •  AGENTS.md / CLAUDE.md</a:t>
            </a:r>
          </a:p>
          <a:p>
            <a:pPr algn="l">
              <a:spcBef>
                <a:spcPts val="800"/>
              </a:spcBef>
              <a:defRPr sz="1800" b="0">
                <a:solidFill>
                  <a:srgbClr val="CCCCCC"/>
                </a:solidFill>
                <a:latin typeface="Meiryo"/>
              </a:defRPr>
            </a:pPr>
            <a:r>
              <a:t>  •  README.md</a:t>
            </a:r>
          </a:p>
          <a:p>
            <a:pPr algn="l">
              <a:spcBef>
                <a:spcPts val="800"/>
              </a:spcBef>
              <a:defRPr sz="1800" b="0">
                <a:solidFill>
                  <a:srgbClr val="CCCCCC"/>
                </a:solidFill>
                <a:latin typeface="Meiryo"/>
              </a:defRPr>
            </a:pPr>
            <a:r>
              <a:t>  •  Skills / Rules</a:t>
            </a:r>
          </a:p>
          <a:p>
            <a:pPr algn="l">
              <a:spcBef>
                <a:spcPts val="800"/>
              </a:spcBef>
              <a:defRPr sz="1800" b="0">
                <a:solidFill>
                  <a:srgbClr val="CCCCCC"/>
                </a:solidFill>
                <a:latin typeface="Meiryo"/>
              </a:defRPr>
            </a:pPr>
            <a:r>
              <a:t>  •  MCP Servers</a:t>
            </a:r>
          </a:p>
          <a:p>
            <a:pPr algn="l">
              <a:spcBef>
                <a:spcPts val="800"/>
              </a:spcBef>
              <a:defRPr sz="1800" b="0">
                <a:solidFill>
                  <a:srgbClr val="CCCCCC"/>
                </a:solidFill>
                <a:latin typeface="Meiryo"/>
              </a:defRPr>
            </a:pPr>
            <a:r>
              <a:t>  •  Config / Profile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371600"/>
            <a:ext cx="5029200" cy="2926080"/>
          </a:xfrm>
          <a:prstGeom prst="round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0" y="155448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F476F"/>
                </a:solidFill>
                <a:latin typeface="Meiryo"/>
              </a:defRPr>
            </a:pPr>
            <a:r>
              <a:t>どのドキュメントを変えれば、出力が良くなるかわからない</a:t>
            </a:r>
          </a:p>
          <a:p>
            <a:pPr algn="l">
              <a:spcBef>
                <a:spcPts val="1200"/>
              </a:spcBef>
              <a:defRPr sz="1000" b="0">
                <a:solidFill>
                  <a:srgbClr val="FFFFFF"/>
                </a:solidFill>
                <a:latin typeface="Meiryo"/>
              </a:defRPr>
            </a:pPr>
          </a:p>
          <a:p>
            <a:pPr algn="l">
              <a:spcBef>
                <a:spcPts val="800"/>
              </a:spcBef>
              <a:defRPr sz="1800" b="0">
                <a:solidFill>
                  <a:srgbClr val="FFFFFF"/>
                </a:solidFill>
                <a:latin typeface="Meiryo"/>
              </a:defRPr>
            </a:pPr>
            <a:r>
              <a:t>現状は「勘と経験」に頼っている</a:t>
            </a:r>
          </a:p>
          <a:p>
            <a:pPr algn="l">
              <a:spcBef>
                <a:spcPts val="800"/>
              </a:spcBef>
              <a:defRPr sz="1800" b="0">
                <a:solidFill>
                  <a:srgbClr val="FFFFFF"/>
                </a:solidFill>
                <a:latin typeface="Meiryo"/>
              </a:defRPr>
            </a:pPr>
            <a:r>
              <a:t>変更の効果を定量的に測定できない</a:t>
            </a:r>
          </a:p>
          <a:p>
            <a:pPr algn="l">
              <a:spcBef>
                <a:spcPts val="800"/>
              </a:spcBef>
              <a:defRPr sz="1800" b="0">
                <a:solidFill>
                  <a:srgbClr val="FFFFFF"/>
                </a:solidFill>
                <a:latin typeface="Meiryo"/>
              </a:defRPr>
            </a:pPr>
            <a:r>
              <a:t>ドキュメントが増えるほど特定が困難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Meiryo"/>
              </a:defRPr>
            </a:pPr>
            <a:r>
              <a:t>"AI is easy to demo, hard to productionize"</a:t>
            </a:r>
            <a:br/>
            <a:r>
              <a:t>— これはエージェントの設定ドキュメントにも当てはまる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BE0B"/>
                </a:solidFill>
                <a:latin typeface="Meiryo"/>
              </a:defRPr>
            </a:pPr>
            <a:r>
              <a:t>Solution: AgentKaizen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eiryo"/>
              </a:defRPr>
            </a:pPr>
            <a:r>
              <a:t>ステアリングドキュメントのためのEvaluation Loop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03120"/>
            <a:ext cx="1645920" cy="1828800"/>
          </a:xfrm>
          <a:prstGeom prst="round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1. Trace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Meiryo"/>
              </a:defRPr>
            </a:pPr>
            <a:r>
              <a:t>エージェント実行を</a:t>
            </a:r>
            <a:br/>
            <a:r>
              <a:t>Weaveに記録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743200"/>
            <a:ext cx="246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BE0B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50008" y="2103120"/>
            <a:ext cx="1645920" cy="1828800"/>
          </a:xfrm>
          <a:prstGeom prst="round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41448" y="22860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2. Case生成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1448" y="283464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Meiryo"/>
              </a:defRPr>
            </a:pPr>
            <a:r>
              <a:t>実トレースから</a:t>
            </a:r>
            <a:br/>
            <a:r>
              <a:t>Eval Caseを自動生成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95928" y="2743200"/>
            <a:ext cx="246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BE0B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42816" y="2103120"/>
            <a:ext cx="1645920" cy="1828800"/>
          </a:xfrm>
          <a:prstGeom prst="round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4256" y="22860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3. Variant定義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4256" y="283464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Meiryo"/>
              </a:defRPr>
            </a:pPr>
            <a:r>
              <a:t>ドキュメント変更を</a:t>
            </a:r>
            <a:br/>
            <a:r>
              <a:t>JSONで定義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88736" y="2743200"/>
            <a:ext cx="246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BE0B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35624" y="2103120"/>
            <a:ext cx="1645920" cy="1828800"/>
          </a:xfrm>
          <a:prstGeom prst="round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27064" y="22860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4. 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7064" y="283464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Meiryo"/>
              </a:defRPr>
            </a:pPr>
            <a:r>
              <a:t>同じDatasetで</a:t>
            </a:r>
            <a:br/>
            <a:r>
              <a:t>Baseline vs Variant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81544" y="2743200"/>
            <a:ext cx="246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BE0B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28432" y="2103120"/>
            <a:ext cx="1645920" cy="1828800"/>
          </a:xfrm>
          <a:prstGeom prst="round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9872" y="22860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5. Scoring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9872" y="283464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Meiryo"/>
              </a:defRPr>
            </a:pPr>
            <a:r>
              <a:t>Quality / Latency /</a:t>
            </a:r>
            <a:br/>
            <a:r>
              <a:t>Tokenでランキング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74352" y="2743200"/>
            <a:ext cx="246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BE0B"/>
                </a:solidFill>
                <a:latin typeface="Meiryo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21240" y="2103120"/>
            <a:ext cx="1645920" cy="1828800"/>
          </a:xfrm>
          <a:prstGeom prst="round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12680" y="22860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6. 昇格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283464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Meiryo"/>
              </a:defRPr>
            </a:pPr>
            <a:r>
              <a:t>勝ったVariantを</a:t>
            </a:r>
            <a:br/>
            <a:r>
              <a:t>本番に反映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754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BE0B"/>
                </a:solidFill>
                <a:latin typeface="Meiryo"/>
              </a:defRPr>
            </a:pPr>
            <a:r>
              <a:t>「勘」から「実験」へ。Vibe Tuningを卒業する。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86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Meiryo"/>
              </a:defRPr>
            </a:pPr>
            <a:r>
              <a:t>One-shot Runner抽象化でCodexとClaude Codeに対応。Eval/セッション分析は現在Codex中心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BE0B"/>
                </a:solidFill>
                <a:latin typeface="Meiryo"/>
              </a:defRPr>
            </a:pPr>
            <a:r>
              <a:t>Demo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371600"/>
            <a:ext cx="8229600" cy="4114800"/>
          </a:xfrm>
          <a:prstGeom prst="round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>
                <a:solidFill>
                  <a:srgbClr val="FFBE0B"/>
                </a:solidFill>
                <a:latin typeface="Meiryo"/>
              </a:defRPr>
            </a:pPr>
            <a: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Meiryo"/>
              </a:defRPr>
            </a:pPr>
            <a:r>
              <a:t>ここで動画を再生します（約2分）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389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Meiryo"/>
              </a:defRPr>
            </a:pPr>
            <a:r>
              <a:t>[YouTubeリンクまたは埋め込み動画]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BE0B"/>
                </a:solidFill>
                <a:latin typeface="Meiryo"/>
              </a:defRPr>
            </a:pPr>
            <a:r>
              <a:t>Weave機能の活用マップ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303520" cy="2560320"/>
          </a:xfrm>
          <a:prstGeom prst="round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A86FF"/>
                </a:solidFill>
                <a:latin typeface="Meiryo"/>
              </a:defRPr>
            </a:pPr>
            <a:r>
              <a:t>Trace (トレーシング)</a:t>
            </a:r>
          </a:p>
          <a:p>
            <a:pPr algn="l">
              <a:spcBef>
                <a:spcPts val="1000"/>
              </a:spcBef>
              <a:defRPr sz="1300" b="0">
                <a:solidFill>
                  <a:srgbClr val="FFFFFF"/>
                </a:solidFill>
                <a:latin typeface="Meiryo"/>
              </a:defRPr>
            </a:pPr>
            <a:r>
              <a:t>• One-shot実行のInput/Output/メタデータ自動記録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FFFFFF"/>
                </a:solidFill>
                <a:latin typeface="Meiryo"/>
              </a:defRPr>
            </a:pPr>
            <a:r>
              <a:t>• インタラクティブセッション取り込み・再構築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FFFFFF"/>
                </a:solidFill>
                <a:latin typeface="Meiryo"/>
              </a:defRPr>
            </a:pPr>
            <a:r>
              <a:t>• マルチモーダル: 画像プロンプトのcontent block保持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FFFFFF"/>
                </a:solidFill>
                <a:latin typeface="Meiryo"/>
              </a:defRPr>
            </a:pPr>
            <a:r>
              <a:t>• PIIリダクション: Weave組み込み + カスタム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eiryo"/>
              </a:defRPr>
            </a:pPr>
            <a:r>
              <a:t>  (APIキー、ローカルパス、ユーザー名の除去)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303520" cy="2560320"/>
          </a:xfrm>
          <a:prstGeom prst="round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23444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D6A0"/>
                </a:solidFill>
                <a:latin typeface="Meiryo"/>
              </a:defRPr>
            </a:pPr>
            <a:r>
              <a:t>Asset Management (アセット管理)</a:t>
            </a:r>
          </a:p>
          <a:p>
            <a:pPr algn="l">
              <a:spcBef>
                <a:spcPts val="1000"/>
              </a:spcBef>
              <a:defRPr sz="1300" b="0">
                <a:solidFill>
                  <a:srgbClr val="FFFFFF"/>
                </a:solidFill>
                <a:latin typeface="Meiryo"/>
              </a:defRPr>
            </a:pPr>
            <a:r>
              <a:t>• Dataset: JSONL Eval Case + トレースからの自動生成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FFFFFF"/>
                </a:solidFill>
                <a:latin typeface="Meiryo"/>
              </a:defRPr>
            </a:pPr>
            <a:r>
              <a:t>• Scorer: カスタム10種 + Weave組み込み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eiryo"/>
              </a:defRPr>
            </a:pPr>
            <a:r>
              <a:t>  (ValidJSON, Pydantic)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FFFFFF"/>
                </a:solidFill>
                <a:latin typeface="Meiryo"/>
              </a:defRPr>
            </a:pPr>
            <a:r>
              <a:t>• Model: CodexVariantModel (weave.Model)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eiryo"/>
              </a:defRPr>
            </a:pPr>
            <a:r>
              <a:t>  ワークスペース構成+設定の組み合わせをバージョン管理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40480"/>
            <a:ext cx="5303520" cy="2560320"/>
          </a:xfrm>
          <a:prstGeom prst="round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97764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A86FF"/>
                </a:solidFill>
                <a:latin typeface="Meiryo"/>
              </a:defRPr>
            </a:pPr>
            <a:r>
              <a:t>Offline Evaluation (オフライン評価)</a:t>
            </a:r>
          </a:p>
          <a:p>
            <a:pPr algn="l">
              <a:spcBef>
                <a:spcPts val="1000"/>
              </a:spcBef>
              <a:defRPr sz="1300" b="0">
                <a:solidFill>
                  <a:srgbClr val="FFFFFF"/>
                </a:solidFill>
                <a:latin typeface="Meiryo"/>
              </a:defRPr>
            </a:pPr>
            <a:r>
              <a:t>• weave.Evaluationで同じDatasetに対しVariant比較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FFFFFF"/>
                </a:solidFill>
                <a:latin typeface="Meiryo"/>
              </a:defRPr>
            </a:pPr>
            <a:r>
              <a:t>• 各Scorerの結果を横並びで確認・ランキング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FFFFFF"/>
                </a:solidFill>
                <a:latin typeface="Meiryo"/>
              </a:defRPr>
            </a:pPr>
            <a:r>
              <a:t>• コスト・レイテンシ追跡: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eiryo"/>
              </a:defRPr>
            </a:pPr>
            <a:r>
              <a:t>  品質同等でもコスト増ならGate不合格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5303520" cy="2560320"/>
          </a:xfrm>
          <a:prstGeom prst="round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397764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D6A0"/>
                </a:solidFill>
                <a:latin typeface="Meiryo"/>
              </a:defRPr>
            </a:pPr>
            <a:r>
              <a:t>Online Evaluation的活用</a:t>
            </a:r>
          </a:p>
          <a:p>
            <a:pPr algn="l">
              <a:spcBef>
                <a:spcPts val="1000"/>
              </a:spcBef>
              <a:defRPr sz="1300" b="0">
                <a:solidFill>
                  <a:srgbClr val="FFFFFF"/>
                </a:solidFill>
                <a:latin typeface="Meiryo"/>
              </a:defRPr>
            </a:pPr>
            <a:r>
              <a:t>• One-shot実行時にScorerをリアルタイム適用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FFFFFF"/>
                </a:solidFill>
                <a:latin typeface="Meiryo"/>
              </a:defRPr>
            </a:pPr>
            <a:r>
              <a:t>• セッションのヒューリスティクスコアリング: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eiryo"/>
              </a:defRPr>
            </a:pPr>
            <a:r>
              <a:t>  ブランチ作成・テスト実行・lint実行を自動検出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999999"/>
                </a:solidFill>
                <a:latin typeface="Meiryo"/>
              </a:defRPr>
            </a:pPr>
            <a:r>
              <a:t>• 今後: Weave Monitor/Guardrailとの統合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BE0B"/>
                </a:solidFill>
                <a:latin typeface="Meiryo"/>
              </a:defRPr>
            </a:pPr>
            <a:r>
              <a:t>カスタム実装の工夫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303520" cy="2286000"/>
          </a:xfrm>
          <a:prstGeom prst="round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A86FF"/>
                </a:solidFill>
                <a:latin typeface="Meiryo"/>
              </a:defRPr>
            </a:pPr>
            <a:r>
              <a:t>Deterministic Scorer群 (10種)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FFFFFF"/>
                </a:solidFill>
                <a:latin typeface="Meiryo"/>
              </a:defRPr>
            </a:pPr>
            <a:r>
              <a:t>• 必須テキスト含有 / 禁止テキスト不在 / 完全一致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FFFFFF"/>
                </a:solidFill>
                <a:latin typeface="Meiryo"/>
              </a:defRPr>
            </a:pPr>
            <a:r>
              <a:t>• 文字数制限 (最小・最大) / JSON妥当性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FFFFFF"/>
                </a:solidFill>
                <a:latin typeface="Meiryo"/>
              </a:defRPr>
            </a:pPr>
            <a:r>
              <a:t>• セクション存在 / コンテンツグループ網羅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FFFFFF"/>
                </a:solidFill>
                <a:latin typeface="Meiryo"/>
              </a:defRPr>
            </a:pPr>
            <a:r>
              <a:t>• ファイルパス引用 / トークン使用量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06D6A0"/>
                </a:solidFill>
                <a:latin typeface="Meiryo"/>
              </a:defRPr>
            </a:pPr>
            <a:r>
              <a:t>→ LLM不要の高速・安定・再現性のあるチェック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303520" cy="2286000"/>
          </a:xfrm>
          <a:prstGeom prst="round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18872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A86FF"/>
                </a:solidFill>
                <a:latin typeface="Meiryo"/>
              </a:defRPr>
            </a:pPr>
            <a:r>
              <a:t>Variant Workspace管理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FFFFFF"/>
                </a:solidFill>
                <a:latin typeface="Meiryo"/>
              </a:defRPr>
            </a:pPr>
            <a:r>
              <a:t>• リポジトリを一時コピー → 変更適用 → 同条件で実行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FFFFFF"/>
                </a:solidFill>
                <a:latin typeface="Meiryo"/>
              </a:defRPr>
            </a:pPr>
            <a:r>
              <a:t>• JSON定義: append / prepend / replace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FFFFFF"/>
                </a:solidFill>
                <a:latin typeface="Meiryo"/>
              </a:defRPr>
            </a:pPr>
            <a:r>
              <a:t>• 外部ファイル注入にも対応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06D6A0"/>
                </a:solidFill>
                <a:latin typeface="Meiryo"/>
              </a:defRPr>
            </a:pPr>
            <a:r>
              <a:t>→ 本番リポジトリを汚さず安全に実験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657600"/>
            <a:ext cx="5303520" cy="2286000"/>
          </a:xfrm>
          <a:prstGeom prst="round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A86FF"/>
                </a:solidFill>
                <a:latin typeface="Meiryo"/>
              </a:defRPr>
            </a:pPr>
            <a:r>
              <a:t>Quality Ranking &amp; Regression Gate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FFFFFF"/>
                </a:solidFill>
                <a:latin typeface="Meiryo"/>
              </a:defRPr>
            </a:pPr>
            <a:r>
              <a:t>• Quality Score = アクティブScorerの加重Pass率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FFFFFF"/>
                </a:solidFill>
                <a:latin typeface="Meiryo"/>
              </a:defRPr>
            </a:pPr>
            <a:r>
              <a:t>• Gate: 品質同等でもLatency/Token増 → 不合格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06D6A0"/>
                </a:solidFill>
                <a:latin typeface="Meiryo"/>
              </a:defRPr>
            </a:pPr>
            <a:r>
              <a:t>→ 「良くなったけど遅くなった」変更を自動検出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657600"/>
            <a:ext cx="5303520" cy="2286000"/>
          </a:xfrm>
          <a:prstGeom prst="round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3749039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A86FF"/>
                </a:solidFill>
                <a:latin typeface="Meiryo"/>
              </a:defRPr>
            </a:pPr>
            <a:r>
              <a:t>セッション分析 &amp; Case自動生成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FFFFFF"/>
                </a:solidFill>
                <a:latin typeface="Meiryo"/>
              </a:defRPr>
            </a:pPr>
            <a:r>
              <a:t>• ヒューリスティクス + 外部Judge の2層スコアリング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FFFFFF"/>
                </a:solidFill>
                <a:latin typeface="Meiryo"/>
              </a:defRPr>
            </a:pPr>
            <a:r>
              <a:t>• optimization_relevance: 次に直すべき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eiryo"/>
              </a:defRPr>
            </a:pPr>
            <a:r>
              <a:t>  ドキュメントを推薦 (AGENTS/README/Skill/Config)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FFFFFF"/>
                </a:solidFill>
                <a:latin typeface="Meiryo"/>
              </a:defRPr>
            </a:pPr>
            <a:r>
              <a:t>• Weave Call History APIから過去トレース →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eiryo"/>
              </a:defRPr>
            </a:pPr>
            <a:r>
              <a:t>  重複排除 → JSONL Eval Case自動生成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BE0B"/>
                </a:solidFill>
                <a:latin typeface="Meiryo"/>
              </a:defRPr>
            </a:pPr>
            <a:r>
              <a:t>実験例: AGENTS.mdで日本語レスポンス制御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303520" cy="2011680"/>
          </a:xfrm>
          <a:prstGeom prst="round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A86FF"/>
                </a:solidFill>
                <a:latin typeface="Meiryo"/>
              </a:defRPr>
            </a:pPr>
            <a:r>
              <a:t>Variant定義 (JSON)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CCCCCC"/>
                </a:solidFill>
                <a:latin typeface="Courier New"/>
              </a:defRPr>
            </a:pPr>
            <a:r>
              <a:t>{ "name": "agents-japanese-response",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CCCCCC"/>
                </a:solidFill>
                <a:latin typeface="Courier New"/>
              </a:defRPr>
            </a:pPr>
            <a:r>
              <a:t>  "edits": [{ "path": "AGENTS.md",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CCCCCC"/>
                </a:solidFill>
                <a:latin typeface="Courier New"/>
              </a:defRPr>
            </a:pPr>
            <a:r>
              <a:t>    "mode": "append",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FFBE0B"/>
                </a:solidFill>
                <a:latin typeface="Courier New"/>
              </a:defRPr>
            </a:pPr>
            <a:r>
              <a:t>    "text": "You must respond in Japanese."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CCCCCC"/>
                </a:solidFill>
                <a:latin typeface="Courier New"/>
              </a:defRPr>
            </a:pPr>
            <a:r>
              <a:t>  }] 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303520" cy="2011680"/>
          </a:xfrm>
          <a:prstGeom prst="round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18872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D6A0"/>
                </a:solidFill>
                <a:latin typeface="Meiryo"/>
              </a:defRPr>
            </a:pPr>
            <a:r>
              <a:t>結果</a:t>
            </a:r>
          </a:p>
          <a:p>
            <a:pPr algn="l">
              <a:spcBef>
                <a:spcPts val="1000"/>
              </a:spcBef>
              <a:defRPr sz="1400" b="0">
                <a:solidFill>
                  <a:srgbClr val="FFFFFF"/>
                </a:solidFill>
                <a:latin typeface="Meiryo"/>
              </a:defRPr>
            </a:pPr>
            <a:r>
              <a:t>✓ 日本語プロンプト → 日本語で回答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eiryo"/>
              </a:defRPr>
            </a:pPr>
            <a:r>
              <a:t>  must_contain: "リポジトリ", "W&amp;B Weave"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FFFFFF"/>
                </a:solidFill>
                <a:latin typeface="Meiryo"/>
              </a:defRPr>
            </a:pPr>
            <a:r>
              <a:t>✓ "Say only: ok" → "ok" (過剰適用なし)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eiryo"/>
              </a:defRPr>
            </a:pPr>
            <a:r>
              <a:t>  exact_match で検証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FFFFFF"/>
                </a:solidFill>
                <a:latin typeface="Meiryo"/>
              </a:defRPr>
            </a:pPr>
            <a:r>
              <a:t>✓ "Respond in English" → 英語 (ユーザー指示優先)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474720"/>
            <a:ext cx="11064240" cy="146304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BE0B"/>
                </a:solidFill>
                <a:latin typeface="Meiryo"/>
              </a:defRPr>
            </a:pPr>
            <a:r>
              <a:t>Evaluation結果</a:t>
            </a:r>
          </a:p>
          <a:p>
            <a:pPr algn="l">
              <a:spcBef>
                <a:spcPts val="800"/>
              </a:spcBef>
              <a:defRPr sz="1500" b="0">
                <a:solidFill>
                  <a:srgbClr val="FFFFFF"/>
                </a:solidFill>
                <a:latin typeface="Meiryo"/>
              </a:defRPr>
            </a:pPr>
            <a:r>
              <a:t>• Quality Score向上: Variantが日本語ケースでBaselineを上回る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FFFFFF"/>
                </a:solidFill>
                <a:latin typeface="Meiryo"/>
              </a:defRPr>
            </a:pPr>
            <a:r>
              <a:t>• Gate Pass: Latency/Token数のリグレッションなし → 昇格可能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FFFFFF"/>
                </a:solidFill>
                <a:latin typeface="Meiryo"/>
              </a:defRPr>
            </a:pPr>
            <a:r>
              <a:t>• コントロールケースで副作用がないことも定量的に確認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BE0B"/>
                </a:solidFill>
                <a:latin typeface="Meiryo"/>
              </a:defRPr>
            </a:pPr>
            <a:r>
              <a:t>今後の展望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064240" cy="640080"/>
          </a:xfrm>
          <a:prstGeom prst="round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6187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eiryo"/>
              </a:defRPr>
            </a:pPr>
            <a:r>
              <a:t>PyPIリリース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26187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Meiryo"/>
              </a:defRPr>
            </a:pPr>
            <a:r>
              <a:t>pip install agentkaizen で誰でも利用可能に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2618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6D6A0"/>
                </a:solidFill>
                <a:latin typeface="Meiryo"/>
              </a:defRPr>
            </a:pPr>
            <a:r>
              <a:t>進行中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65960"/>
            <a:ext cx="11064240" cy="640080"/>
          </a:xfrm>
          <a:prstGeom prst="round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3911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eiryo"/>
              </a:defRPr>
            </a:pPr>
            <a:r>
              <a:t>Claude Code完全対応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03911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Meiryo"/>
              </a:defRPr>
            </a:pPr>
            <a:r>
              <a:t>セッション分析、トークン使用量取得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203911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6D6A0"/>
                </a:solidFill>
                <a:latin typeface="Meiryo"/>
              </a:defRPr>
            </a:pPr>
            <a:r>
              <a:t>進行中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743200"/>
            <a:ext cx="11064240" cy="640080"/>
          </a:xfrm>
          <a:prstGeom prst="round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81635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eiryo"/>
              </a:defRPr>
            </a:pPr>
            <a:r>
              <a:t>Semantic Scorer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81635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Meiryo"/>
              </a:defRPr>
            </a:pPr>
            <a:r>
              <a:t>LLM-as-a-Judgeで回答の意味的品質も評価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281635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3A86FF"/>
                </a:solidFill>
                <a:latin typeface="Meiryo"/>
              </a:defRPr>
            </a:pPr>
            <a:r>
              <a:t>計画中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520440"/>
            <a:ext cx="11064240" cy="640080"/>
          </a:xfrm>
          <a:prstGeom prst="round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59359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eiryo"/>
              </a:defRPr>
            </a:pPr>
            <a:r>
              <a:t>マルチモーダルEval拡充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59359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Meiryo"/>
              </a:defRPr>
            </a:pPr>
            <a:r>
              <a:t>画像入力ケースの評価スコアリング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359359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3A86FF"/>
                </a:solidFill>
                <a:latin typeface="Meiryo"/>
              </a:defRPr>
            </a:pPr>
            <a:r>
              <a:t>計画中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297680"/>
            <a:ext cx="11064240" cy="640080"/>
          </a:xfrm>
          <a:prstGeom prst="round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37083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eiryo"/>
              </a:defRPr>
            </a:pPr>
            <a:r>
              <a:t>Online Evaluation連携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37083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Meiryo"/>
              </a:defRPr>
            </a:pPr>
            <a:r>
              <a:t>Weave Monitor/Guardrailとの統合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437083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3A86FF"/>
                </a:solidFill>
                <a:latin typeface="Meiryo"/>
              </a:defRPr>
            </a:pPr>
            <a:r>
              <a:t>計画中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074920"/>
            <a:ext cx="11064240" cy="640080"/>
          </a:xfrm>
          <a:prstGeom prst="round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14807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eiryo"/>
              </a:defRPr>
            </a:pPr>
            <a:r>
              <a:t>CI/CD統合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514807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Meiryo"/>
              </a:defRPr>
            </a:pPr>
            <a:r>
              <a:t>PRごとにドキュメント変更のEvalを自動実行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51480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3A86FF"/>
                </a:solidFill>
                <a:latin typeface="Meiryo"/>
              </a:defRPr>
            </a:pPr>
            <a:r>
              <a:t>計画中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669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BE0B"/>
                </a:solidFill>
                <a:latin typeface="Meiryo"/>
              </a:defRPr>
            </a:pPr>
            <a:r>
              <a:t>AgentKaizen: Measure changes, don't guess.</a:t>
            </a:r>
            <a:br/>
            <a:r>
              <a:t>「勘」ではなく「実験」でエージェントを改善する。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